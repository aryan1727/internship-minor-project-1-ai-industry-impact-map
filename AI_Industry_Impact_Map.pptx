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B942"/>
                </a:solidFill>
                <a:latin typeface="Aptos"/>
              </a:defRPr>
            </a:pPr>
            <a:r>
              <a:t>MINOR PROJECT 1  /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AI INDUSTRY</a:t>
            </a:r>
            <a:br/>
            <a:r>
              <a:t>IMPACT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C7D7E7"/>
                </a:solidFill>
                <a:latin typeface="Aptos"/>
              </a:defRPr>
            </a:pPr>
            <a:r>
              <a:t>10 real-world applications across 5 industries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0916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4709160"/>
            <a:ext cx="73152" cy="9601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4873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5404104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B38"/>
                </a:solidFill>
                <a:latin typeface="Aptos"/>
              </a:defRPr>
            </a:pPr>
            <a:r>
              <a:t>AI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70916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4709160"/>
            <a:ext cx="73152" cy="9601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4873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5404104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B38"/>
                </a:solidFill>
                <a:latin typeface="Aptos"/>
              </a:defRPr>
            </a:pPr>
            <a:r>
              <a:t>INDUSTRIES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70916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4709160"/>
            <a:ext cx="73152" cy="9601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4873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05+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5404104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B38"/>
                </a:solidFill>
                <a:latin typeface="Aptos"/>
              </a:defRPr>
            </a:pPr>
            <a:r>
              <a:t>AI METHOD FAMILIES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7D7E7"/>
                </a:solidFill>
                <a:latin typeface="Aptos"/>
              </a:defRPr>
            </a:pPr>
            <a:r>
              <a:t>Gen AI Intern research report  •  19 October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01 / SCOPE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Research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828800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01  Map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03704"/>
            <a:ext cx="31363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B38"/>
                </a:solidFill>
                <a:latin typeface="Aptos"/>
              </a:defRPr>
            </a:pPr>
            <a:r>
              <a:t>Two real-world use cases in each of five industries.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8288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673351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02  Identify AI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03704"/>
            <a:ext cx="31363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B38"/>
                </a:solidFill>
                <a:latin typeface="Aptos"/>
              </a:defRPr>
            </a:pPr>
            <a:r>
              <a:t>ML, deep learning, NLP, computer vision, GenAI and optimization.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8288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1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03  Evaluate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03704"/>
            <a:ext cx="31363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B38"/>
                </a:solidFill>
                <a:latin typeface="Aptos"/>
              </a:defRPr>
            </a:pPr>
            <a:r>
              <a:t>Business problem, data inputs, measured impact and limitations.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43A"/>
                </a:solidFill>
                <a:latin typeface="Aptos"/>
              </a:defRPr>
            </a:pPr>
            <a:r>
              <a:t>Evidence rule: published studies, company-reported estimates, usage statistics and expected benefits are labelled separately. No numeric impact is invented when a source does not provide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02 /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AI-assisted chest X-ray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Deep Learning / Computer Vision</a:t>
            </a:r>
            <a:br/>
            <a:br/>
            <a:r>
              <a:t>BUSINESS PROBLEM</a:t>
            </a:r>
            <a:br/>
            <a:r>
              <a:t>Help clinicians detect and localize abnormalities in chest X-rays.</a:t>
            </a:r>
            <a:br/>
            <a:br/>
            <a:r>
              <a:t>DATA</a:t>
            </a:r>
            <a:br/>
            <a:r>
              <a:t>Chest X-ray pixels; annotated images; clinical labels.</a:t>
            </a:r>
            <a:br/>
            <a:br/>
            <a:r>
              <a:t>IMPACT / EVIDENCE</a:t>
            </a:r>
            <a:br/>
            <a:r>
              <a:t>A published evaluation reported AUC 0.976; physicians’ AUC improved by 0.101 with AI assistance. Study result, not a guaranteed hospital-wide 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526280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AI triage for urgent radiology scans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Machine Learning / Computer Vision</a:t>
            </a:r>
            <a:br/>
            <a:br/>
            <a:r>
              <a:t>BUSINESS PROBLEM</a:t>
            </a:r>
            <a:br/>
            <a:r>
              <a:t>Prioritize potentially urgent scans for earlier review.</a:t>
            </a:r>
            <a:br/>
            <a:br/>
            <a:r>
              <a:t>DATA</a:t>
            </a:r>
            <a:br/>
            <a:r>
              <a:t>CT images; model scores; scan and report timestamps.</a:t>
            </a:r>
            <a:br/>
            <a:br/>
            <a:r>
              <a:t>IMPACT / EVIDENCE</a:t>
            </a:r>
            <a:br/>
            <a:r>
              <a:t>A systematic review found 67% of 33 studies measuring task time reported reductions, but pooled meta-analyses did not show significant overall effects.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286"/>
                </a:solidFill>
                <a:latin typeface="Aptos"/>
              </a:defRPr>
            </a:pPr>
            <a:r>
              <a:t>Source links and full context are provided in the accompanying research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03 /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Real-time payment 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Machine Learning; GenAI-enhanced scoring</a:t>
            </a:r>
            <a:br/>
            <a:br/>
            <a:r>
              <a:t>BUSINESS PROBLEM</a:t>
            </a:r>
            <a:br/>
            <a:r>
              <a:t>Flag suspicious transactions while limiting unnecessary declines.</a:t>
            </a:r>
            <a:br/>
            <a:br/>
            <a:r>
              <a:t>DATA</a:t>
            </a:r>
            <a:br/>
            <a:r>
              <a:t>Transaction amount/time; merchant; account/device signals; fraud outcomes.</a:t>
            </a:r>
            <a:br/>
            <a:br/>
            <a:r>
              <a:t>IMPACT / EVIDENCE</a:t>
            </a:r>
            <a:br/>
            <a:r>
              <a:t>Mastercard reported a 20% average improvement in initial fraud-detection modelling; company-reported estimate, not a universal independent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5262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Fraud investigation and case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Machine Learning / NLP</a:t>
            </a:r>
            <a:br/>
            <a:br/>
            <a:r>
              <a:t>BUSINESS PROBLEM</a:t>
            </a:r>
            <a:br/>
            <a:r>
              <a:t>Rank suspicious cases and summarize signals to reduce manual investigation effort.</a:t>
            </a:r>
            <a:br/>
            <a:br/>
            <a:r>
              <a:t>DATA</a:t>
            </a:r>
            <a:br/>
            <a:r>
              <a:t>Transaction histories; alerts; investigator notes; customer and merchant context.</a:t>
            </a:r>
            <a:br/>
            <a:br/>
            <a:r>
              <a:t>IMPACT / EVIDENCE</a:t>
            </a:r>
            <a:br/>
            <a:r>
              <a:t>Mastercard’s research reports 83% of surveyed organizations said AI significantly sped up investigation and resolution; survey result, not a causal experiment.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286"/>
                </a:solidFill>
                <a:latin typeface="Aptos"/>
              </a:defRPr>
            </a:pPr>
            <a:r>
              <a:t>Source links and full context are provided in the accompanying research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04 /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Personalized product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Machine Learning / Recommender Systems</a:t>
            </a:r>
            <a:br/>
            <a:br/>
            <a:r>
              <a:t>BUSINESS PROBLEM</a:t>
            </a:r>
            <a:br/>
            <a:r>
              <a:t>Help customers discover relevant products and improve shopping relevance.</a:t>
            </a:r>
            <a:br/>
            <a:br/>
            <a:r>
              <a:t>DATA</a:t>
            </a:r>
            <a:br/>
            <a:r>
              <a:t>Clicks; searches; purchases; product metadata; customer preferences.</a:t>
            </a:r>
            <a:br/>
            <a:br/>
            <a:r>
              <a:t>IMPACT / EVIDENCE</a:t>
            </a:r>
            <a:br/>
            <a:r>
              <a:t>Amazon describes AI-powered personalization and recommendation improvements; the cited source does not specify a public numerical revenue lift.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52628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AI-generated personalized product descriptions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Generative AI / NLP</a:t>
            </a:r>
            <a:br/>
            <a:br/>
            <a:r>
              <a:t>BUSINESS PROBLEM</a:t>
            </a:r>
            <a:br/>
            <a:r>
              <a:t>Adapt descriptions to shopping context and highlight relevant product attributes.</a:t>
            </a:r>
            <a:br/>
            <a:br/>
            <a:r>
              <a:t>DATA</a:t>
            </a:r>
            <a:br/>
            <a:r>
              <a:t>Product catalog text; product attributes; search and shopping activity.</a:t>
            </a:r>
            <a:br/>
            <a:br/>
            <a:r>
              <a:t>IMPACT / EVIDENCE</a:t>
            </a:r>
            <a:br/>
            <a:r>
              <a:t>Potentially improves relevance and discovery; the cited source describes the capability but does not quantify a measured uplift.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286"/>
                </a:solidFill>
                <a:latin typeface="Aptos"/>
              </a:defRPr>
            </a:pPr>
            <a:r>
              <a:t>Source links and full context are provided in the accompanying research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05 /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AI tutor and teaching assistant (Khanmigo)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Generative AI / NLP</a:t>
            </a:r>
            <a:br/>
            <a:br/>
            <a:r>
              <a:t>BUSINESS PROBLEM</a:t>
            </a:r>
            <a:br/>
            <a:r>
              <a:t>Provide guided explanations and help teachers draft learning materials and feedback.</a:t>
            </a:r>
            <a:br/>
            <a:br/>
            <a:r>
              <a:t>DATA</a:t>
            </a:r>
            <a:br/>
            <a:r>
              <a:t>Student prompts; exercise context; curriculum content; learning objectives.</a:t>
            </a:r>
            <a:br/>
            <a:br/>
            <a:r>
              <a:t>IMPACT / EVIDENCE</a:t>
            </a:r>
            <a:br/>
            <a:r>
              <a:t>Khan Academy reported 2.0 million Khanmigo users during school year 2024–25. Reach is not proof of causal learning gains.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526280"/>
          </a:xfrm>
          <a:prstGeom prst="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Adaptive practice and skill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Machine Learning / Predictive Analytics</a:t>
            </a:r>
            <a:br/>
            <a:br/>
            <a:r>
              <a:t>BUSINESS PROBLEM</a:t>
            </a:r>
            <a:br/>
            <a:r>
              <a:t>Recommend practice based on learner progress and skill mastery.</a:t>
            </a:r>
            <a:br/>
            <a:br/>
            <a:r>
              <a:t>DATA</a:t>
            </a:r>
            <a:br/>
            <a:r>
              <a:t>Answers; attempts; time on task; skill mastery; assessment results.</a:t>
            </a:r>
            <a:br/>
            <a:br/>
            <a:r>
              <a:t>IMPACT / EVIDENCE</a:t>
            </a:r>
            <a:br/>
            <a:r>
              <a:t>Khan Academy reports broader platform research associating 20% learning gains with 18+ hours of practice in a school year; not attributable to GenAI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286"/>
                </a:solidFill>
                <a:latin typeface="Aptos"/>
              </a:defRPr>
            </a:pPr>
            <a:r>
              <a:t>Source links and full context are provided in the accompanying research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06 /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AI-assisted autonomous driving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Deep Learning / Computer Vision / Sensor Fusion</a:t>
            </a:r>
            <a:br/>
            <a:br/>
            <a:r>
              <a:t>BUSINESS PROBLEM</a:t>
            </a:r>
            <a:br/>
            <a:r>
              <a:t>Perceive road users, lanes and traffic signals and predict motion.</a:t>
            </a:r>
            <a:br/>
            <a:br/>
            <a:r>
              <a:t>DATA</a:t>
            </a:r>
            <a:br/>
            <a:r>
              <a:t>Camera images; lidar/radar where used; maps; vehicle motion; labeled driving scenes.</a:t>
            </a:r>
            <a:br/>
            <a:br/>
            <a:r>
              <a:t>IMPACT / EVIDENCE</a:t>
            </a:r>
            <a:br/>
            <a:r>
              <a:t>Potential value includes driver assistance and consistent perception. Performance should be assessed with transparent safety metrics; no universal savings figure is claimed.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52628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81912"/>
            <a:ext cx="4983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Route and fleet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12264"/>
            <a:ext cx="496519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E2B38"/>
                </a:solidFill>
                <a:latin typeface="Aptos"/>
              </a:defRPr>
            </a:pPr>
            <a:r>
              <a:t>AI METHODS</a:t>
            </a:r>
            <a:br/>
            <a:r>
              <a:t>Machine Learning / Operations Research</a:t>
            </a:r>
            <a:br/>
            <a:br/>
            <a:r>
              <a:t>BUSINESS PROBLEM</a:t>
            </a:r>
            <a:br/>
            <a:r>
              <a:t>Plan efficient routes and dispatch schedules under time, capacity and traffic constraints.</a:t>
            </a:r>
            <a:br/>
            <a:br/>
            <a:r>
              <a:t>DATA</a:t>
            </a:r>
            <a:br/>
            <a:r>
              <a:t>Delivery locations; road network; travel times; vehicle capacity; time windows; route outcomes.</a:t>
            </a:r>
            <a:br/>
            <a:br/>
            <a:r>
              <a:t>IMPACT / EVIDENCE</a:t>
            </a:r>
            <a:br/>
            <a:r>
              <a:t>Measure miles per delivery, fuel use, on-time rate and cost per stop. A verified numerical impact was not found in the selected 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7286"/>
                </a:solidFill>
                <a:latin typeface="Aptos"/>
              </a:defRPr>
            </a:pPr>
            <a:r>
              <a:t>Source links and full context are provided in the accompanying research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07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The AI industry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pic>
        <p:nvPicPr>
          <p:cNvPr id="6" name="Picture 5" descr="AI_Industry_Impact_Map_Diagram_Beautif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64420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08 / WHAT THE CASES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Cross-industry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313639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B38"/>
                </a:solidFill>
                <a:latin typeface="Aptos"/>
              </a:defRPr>
            </a:pPr>
            <a:r>
              <a:t>Spot patterns and rank risk: imaging triage and fraud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874519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12264"/>
            <a:ext cx="313639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B38"/>
                </a:solidFill>
                <a:latin typeface="Aptos"/>
              </a:defRPr>
            </a:pPr>
            <a:r>
              <a:t>Adapt recommendations and learning practice to user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874519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12264"/>
            <a:ext cx="313639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B38"/>
                </a:solidFill>
                <a:latin typeface="Aptos"/>
              </a:defRPr>
            </a:pPr>
            <a:r>
              <a:t>Support language-heavy tasks with grounding and human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0243A"/>
                </a:solidFill>
                <a:latin typeface="Aptos"/>
              </a:defRPr>
            </a:pPr>
            <a:r>
              <a:t>Core lesson: AI is not a business outcome by itself. Value depends on workflow integration, data quality, adoption, and whether results improve against a credible baseline.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09 / 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How to measure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749808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10314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B38"/>
                </a:solidFill>
                <a:latin typeface="Aptos"/>
              </a:defRPr>
            </a:pPr>
            <a:r>
              <a:t>Sensitivity, false negatives, turnaround time, clinician workload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58568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258568"/>
            <a:ext cx="73152" cy="7498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423160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953511"/>
            <a:ext cx="10314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B38"/>
                </a:solidFill>
                <a:latin typeface="Aptos"/>
              </a:defRPr>
            </a:pPr>
            <a:r>
              <a:t>Fraud loss, detection rate, false positives, investigation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91256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191256"/>
            <a:ext cx="73152" cy="74980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355848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886200"/>
            <a:ext cx="10314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B38"/>
                </a:solidFill>
                <a:latin typeface="Aptos"/>
              </a:defRPr>
            </a:pPr>
            <a:r>
              <a:t>Conversion, discovery time, returns, recommendation relevance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23944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123944"/>
            <a:ext cx="73152" cy="749808"/>
          </a:xfrm>
          <a:prstGeom prst="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288536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818888"/>
            <a:ext cx="10314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B38"/>
                </a:solidFill>
                <a:latin typeface="Aptos"/>
              </a:defRPr>
            </a:pPr>
            <a:r>
              <a:t>Learning gains, mastery, engagement, equity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56632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056632"/>
            <a:ext cx="73152" cy="749808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221224"/>
            <a:ext cx="10332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751576"/>
            <a:ext cx="10314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B38"/>
                </a:solidFill>
                <a:latin typeface="Aptos"/>
              </a:defRPr>
            </a:pPr>
            <a:r>
              <a:t>Cost per delivery, miles per stop, on-time rate, safety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10 /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Responsible AI is part of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417320"/>
          </a:xfrm>
          <a:prstGeom prst="rect">
            <a:avLst/>
          </a:prstGeom>
          <a:solidFill>
            <a:srgbClr val="23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Privacy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30449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B38"/>
                </a:solidFill>
                <a:latin typeface="Aptos"/>
              </a:defRPr>
            </a:pPr>
            <a:r>
              <a:t>Permission, retention, access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508760"/>
            <a:ext cx="73152" cy="14173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673351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03704"/>
            <a:ext cx="30449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B38"/>
                </a:solidFill>
                <a:latin typeface="Aptos"/>
              </a:defRPr>
            </a:pPr>
            <a:r>
              <a:t>False positives, false negatives, hallucinations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73152" cy="141732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673351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203704"/>
            <a:ext cx="30449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B38"/>
                </a:solidFill>
                <a:latin typeface="Aptos"/>
              </a:defRPr>
            </a:pPr>
            <a:r>
              <a:t>Segment performance and disparate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7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383279"/>
            <a:ext cx="73152" cy="1417320"/>
          </a:xfrm>
          <a:prstGeom prst="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54787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78224"/>
            <a:ext cx="30449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B38"/>
                </a:solidFill>
                <a:latin typeface="Aptos"/>
              </a:defRPr>
            </a:pPr>
            <a:r>
              <a:t>Human review, accountability,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38327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383279"/>
            <a:ext cx="73152" cy="14173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54787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43A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078224"/>
            <a:ext cx="30449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B38"/>
                </a:solidFill>
                <a:latin typeface="Aptos"/>
              </a:defRPr>
            </a:pPr>
            <a:r>
              <a:t>Drift, overrides, incidents and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942"/>
                </a:solidFill>
                <a:latin typeface="Aptos"/>
              </a:defRPr>
            </a:pPr>
            <a:r>
              <a:t>11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Start with the workflow.</a:t>
            </a:r>
            <a:br/>
            <a:r>
              <a:t>Prove the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8E5F0"/>
                </a:solidFill>
                <a:latin typeface="Aptos"/>
              </a:defRPr>
            </a:pPr>
            <a:r>
              <a:t>•  Define a clear problem and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8E5F0"/>
                </a:solidFill>
                <a:latin typeface="Aptos"/>
              </a:defRPr>
            </a:pPr>
            <a:r>
              <a:t>•  Run a measured pilot; compare like with 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8E5F0"/>
                </a:solidFill>
                <a:latin typeface="Aptos"/>
              </a:defRPr>
            </a:pPr>
            <a:r>
              <a:t>•  Keep human accountability for high-stakes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8E5F0"/>
                </a:solidFill>
                <a:latin typeface="Aptos"/>
              </a:defRPr>
            </a:pPr>
            <a:r>
              <a:t>•  Monitor quality, cost, fairness and unintended effects.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FC3D6"/>
                </a:solidFill>
                <a:latin typeface="Aptos"/>
              </a:defRPr>
            </a:pPr>
            <a:r>
              <a:t>Full source list and evidence notes are in the accompanying report.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C4B6"/>
                </a:solidFill>
                <a:latin typeface="Aptos"/>
              </a:defRPr>
            </a:pPr>
            <a:r>
              <a:t>12 /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43A"/>
                </a:solidFill>
                <a:latin typeface="Aptos"/>
              </a:defRPr>
            </a:pPr>
            <a:r>
              <a:t>Selected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7286"/>
                </a:solidFill>
                <a:latin typeface="Aptos"/>
              </a:defRPr>
            </a:pPr>
            <a:r>
              <a:t>AI INDUSTRY IMPACT MAP  •  MINOR PROJECT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t>1. Chest X-ray deep learning evaluation (peer-reviewed)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9961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0">
                <a:solidFill>
                  <a:srgbClr val="2364AA"/>
                </a:solidFill>
                <a:latin typeface="Aptos"/>
              </a:defRPr>
            </a:pPr>
            <a:r>
              <a:t>https://pmc.ncbi.nlm.nih.gov/articles/PMC11502915/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t>2. Medical imaging workflow efficiency systematic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0">
                <a:solidFill>
                  <a:srgbClr val="2364AA"/>
                </a:solidFill>
                <a:latin typeface="Aptos"/>
              </a:defRPr>
            </a:pPr>
            <a:r>
              <a:t>https://pubmed.ncbi.nlm.nih.gov/39349815/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609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t>3. Mastercard — GenAI for consumer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0">
                <a:solidFill>
                  <a:srgbClr val="2364AA"/>
                </a:solidFill>
                <a:latin typeface="Aptos"/>
              </a:defRPr>
            </a:pPr>
            <a:r>
              <a:t>https://www.mastercard.com/in/en/news-and-trends/press/2024/february/mastercard-supercharges-consumer-protection-with-gen-ai.html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74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t>4. Mastercard — AI payment fraud prevention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0">
                <a:solidFill>
                  <a:srgbClr val="2364AA"/>
                </a:solidFill>
                <a:latin typeface="Aptos"/>
              </a:defRPr>
            </a:pPr>
            <a:r>
              <a:t>https://www.mastercard.com/global/en/news-and-trends/Insights/2026/ai-is-helping-banks-save-millions-by-transforming-payment-fraud-prevention.html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t>5. Amazon — Generative AI for recommendations and descriptions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0">
                <a:solidFill>
                  <a:srgbClr val="2364AA"/>
                </a:solidFill>
                <a:latin typeface="Aptos"/>
              </a:defRPr>
            </a:pPr>
            <a:r>
              <a:t>https://www.aboutamazon.com/news/retail/amazon-generative-ai-product-search-results-and-descriptions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t>6. Khan Academy — Annual Report SY24–25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0">
                <a:solidFill>
                  <a:srgbClr val="2364AA"/>
                </a:solidFill>
                <a:latin typeface="Aptos"/>
              </a:defRPr>
            </a:pPr>
            <a:r>
              <a:t>https://annualreport.khanacademy.org/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13831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43A"/>
                </a:solidFill>
                <a:latin typeface="Aptos"/>
              </a:defRPr>
            </a:pPr>
            <a:r>
              <a:t>7. WHO — AI and health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7900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0">
                <a:solidFill>
                  <a:srgbClr val="2364AA"/>
                </a:solidFill>
                <a:latin typeface="Aptos"/>
              </a:defRPr>
            </a:pPr>
            <a:r>
              <a:t>https://www.who.int/teams/digital-health-and-innovation/harnessing-artificial-intelligence-for-health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6611112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5E7187"/>
                </a:solidFill>
                <a:latin typeface="Aptos"/>
              </a:defRPr>
            </a:pPr>
            <a:r>
              <a:t>KUNWAR ARYAN  •  AI INDUSTRY IMPACT MAP                                      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1621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Industry Impact Map — Minor Project 1</dc:title>
  <dc:subject>Artificial Intelligence applications across five industries</dc:subject>
  <dc:creator>KUNWAR ARYAN</dc:creator>
  <cp:keywords>Artificial Intelligence, Generative AI, Machine Learning, Computer Vision, NLP, Industry Impact Map, Internship</cp:keywords>
  <dc:description>Prepared by KUNWAR ARYAN for Minor Project 1 — Artificial Intelligence.</dc:description>
  <cp:lastModifiedBy>Kunwar Aryan</cp:lastModifiedBy>
  <cp:revision>2</cp:revision>
  <dcterms:created xsi:type="dcterms:W3CDTF">2013-01-27T09:14:16Z</dcterms:created>
  <dcterms:modified xsi:type="dcterms:W3CDTF">2026-10-19T09:12:19Z</dcterms:modified>
  <cp:category>Internship Project</cp:category>
</cp:coreProperties>
</file>